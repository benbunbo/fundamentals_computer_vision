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036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· LOCAL FEATURES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</a:t>
            </a:r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&amp;  </a:t>
            </a:r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Detection &amp; Description — hiểu từng bước cách hai giải thuật hoạt động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4937760" cy="566928"/>
          </a:xfrm>
          <a:prstGeom prst="roundRect">
            <a:avLst>
              <a:gd name="adj" fmla="val 14516"/>
            </a:avLst>
          </a:prstGeom>
          <a:solidFill>
            <a:srgbClr val="0B2036">
              <a:alpha val="82000"/>
            </a:srgbClr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— Scale-Invariant Feature Transform (2004)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89320" y="4069080"/>
            <a:ext cx="4937760" cy="566928"/>
          </a:xfrm>
          <a:prstGeom prst="roundRect">
            <a:avLst>
              <a:gd name="adj" fmla="val 14516"/>
            </a:avLst>
          </a:prstGeom>
          <a:solidFill>
            <a:srgbClr val="0B2036">
              <a:alpha val="82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40690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— Oriented FAST &amp; Rotated BRIEF (2011)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hình minh họa được chạy thật bằng OpenCV 5.0 trên cùng một ảnh mẫu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của bài trình bày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0F2B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90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5179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feature là gì?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ảnh cần « điểm đặc trưng » và pipeline 3 bước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2505456"/>
            <a:ext cx="5212080" cy="0"/>
          </a:xfrm>
          <a:prstGeom prst="line">
            <a:avLst/>
          </a:prstGeom>
          <a:noFill/>
          <a:ln w="12700">
            <a:solidFill>
              <a:srgbClr val="E3EA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743200"/>
            <a:ext cx="566928" cy="566928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294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6883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— 4 bước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07238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Scale-space · localization · orientation · descriptor 128-D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3675888"/>
            <a:ext cx="5212080" cy="0"/>
          </a:xfrm>
          <a:prstGeom prst="line">
            <a:avLst/>
          </a:prstGeom>
          <a:noFill/>
          <a:ln w="12700">
            <a:solidFill>
              <a:srgbClr val="E3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913632"/>
            <a:ext cx="566928" cy="566928"/>
          </a:xfrm>
          <a:prstGeom prst="ellipse">
            <a:avLst/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999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858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— 4 bước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42428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· pyramid + Harris · intensity centroid · rBRIEF 256-bit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4846320"/>
            <a:ext cx="5212080" cy="0"/>
          </a:xfrm>
          <a:prstGeom prst="line">
            <a:avLst/>
          </a:prstGeom>
          <a:noFill/>
          <a:ln w="12700">
            <a:solidFill>
              <a:srgbClr val="E3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084064"/>
            <a:ext cx="566928" cy="566928"/>
          </a:xfrm>
          <a:prstGeom prst="ellipse">
            <a:avLst/>
          </a:prstGeom>
          <a:solidFill>
            <a:srgbClr val="0E9F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703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&amp; ứng dụng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4132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so sánh, benchmark thật, khi nào dùng giải thuật nào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50024" y="1609344"/>
            <a:ext cx="4828032" cy="3025263"/>
          </a:xfrm>
          <a:prstGeom prst="roundRect">
            <a:avLst>
              <a:gd name="adj" fmla="val 2720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24" name="Image 0" descr="assets/04_sift_key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737360"/>
            <a:ext cx="4572000" cy="276923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178040" y="470775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 SIFT trên ảnh mẫu (chạy thật OpenCV)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 NỀN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feature là gì và vì sao cần nó?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03320" cy="1298448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99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 = điểm « đáng nhớ »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1883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Góc, đốm (blob), mẫu ảnh cục bộ — nhìn phát nhận ra ngay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0832" y="1371600"/>
            <a:ext cx="3703320" cy="1298448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499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biến đổi hình học &amp; sáng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1883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Vẫn tìm lại được khi ảnh xoay, phóng / thu, đổi sáng, đổi góc nhìn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84464" y="1371600"/>
            <a:ext cx="3703320" cy="1298448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1499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của nhiều bài toán CV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85632" y="1883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Matching, panorama, nhận diện vật thể, SLAM, 3D reconstruction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60220" y="2633472"/>
            <a:ext cx="8668512" cy="3562824"/>
          </a:xfrm>
          <a:prstGeom prst="roundRect">
            <a:avLst>
              <a:gd name="adj" fmla="val 2310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14" name="Image 0" descr="assets/01_feature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2761488"/>
            <a:ext cx="8412480" cy="33067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35608" y="61780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vùng lấy từ ảnh mẫu: vùng phẳng « vô danh » — cạnh vẫn mơ hồ khi dịch chuyển — góc thì định danh duy nhất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giải thuật feature đều đi qua 3 giai đoạn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1289304"/>
            <a:ext cx="10863072" cy="3280566"/>
          </a:xfrm>
          <a:prstGeom prst="roundRect">
            <a:avLst>
              <a:gd name="adj" fmla="val 2509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5" name="Image 0" descr="assets/00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417320"/>
            <a:ext cx="10607040" cy="30245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53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DETECT — tìm ở đâu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ảnh, chọn các điểm « đặc biệt »: corner, blob. SIFT dùng DoG, ORB dùng FAST.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70832" y="4553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DESCRIBE — trông như thế nào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70832" y="4937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hoá vùng lân cận thành vector: SIFT 128 số thực, ORB 256 bit nhị phân.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84464" y="4553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MATCH — ghép cặp ra sao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84464" y="4937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khoảng cách vector (Euclidean / Hamming) giữa các ảnh để tìm điểm tương ứng.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và ORB giải quyết cùng một bài toán — nhưng cách làm ở từng bước khác hẳn nhau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/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" y="13716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Scale-Invariant Feature Transform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G. Lowe — ICCV 1999 &amp; IJCV 2004. « Gold standard » của feature detection: chính xác, bất biến xoay / scale / sáng trong nhiều năm.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125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44988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Scale-space extrema (DoG)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5001768"/>
            <a:ext cx="365760" cy="36576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9880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53312" y="497433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 localization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5477256"/>
            <a:ext cx="365760" cy="36576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63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3312" y="544982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assignment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5952744"/>
            <a:ext cx="365760" cy="36576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9390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53312" y="59253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 128-D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232904" y="2020824"/>
            <a:ext cx="4416552" cy="2147177"/>
          </a:xfrm>
          <a:prstGeom prst="roundRect">
            <a:avLst>
              <a:gd name="adj" fmla="val 3833"/>
            </a:avLst>
          </a:prstGeom>
          <a:solidFill>
            <a:srgbClr val="1C3E63"/>
          </a:solidFill>
          <a:ln w="12700">
            <a:solidFill>
              <a:srgbClr val="2A4E77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19" name="Image 0" descr="assets/07_sift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48840"/>
            <a:ext cx="4160520" cy="189114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60920" y="4268585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match 2 ảnh: phải đã xoay 35° + thu nhỏ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TỔNG QUAN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bước biến một tấm ảnh thành tập vector đặc trưng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15184" cy="2834640"/>
          </a:xfrm>
          <a:prstGeom prst="roundRect">
            <a:avLst>
              <a:gd name="adj" fmla="val 3497"/>
            </a:avLst>
          </a:prstGeom>
          <a:solidFill>
            <a:srgbClr val="F4F7FA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1328" y="1965960"/>
            <a:ext cx="566928" cy="566928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19522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Scale-space extrema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ứng viên keypoint ở mọi tỉ lệ bằng hiệu hai lần làm mờ Gaussian (DoG)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18104" y="3108960"/>
            <a:ext cx="283464" cy="0"/>
          </a:xfrm>
          <a:prstGeom prst="line">
            <a:avLst/>
          </a:prstGeom>
          <a:noFill/>
          <a:ln w="34925">
            <a:solidFill>
              <a:srgbClr val="2E86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1691640"/>
            <a:ext cx="2615184" cy="2834640"/>
          </a:xfrm>
          <a:prstGeom prst="roundRect">
            <a:avLst>
              <a:gd name="adj" fmla="val 3497"/>
            </a:avLst>
          </a:prstGeom>
          <a:solidFill>
            <a:srgbClr val="F4F7FA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5696" y="1965960"/>
            <a:ext cx="566928" cy="566928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9522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8728" y="26517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 localization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4448" y="33375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 chỉnh vị trí bằng Taylor; loại điểm yếu tương phản và điểm nằm trên cạnh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62472" y="3108960"/>
            <a:ext cx="283464" cy="0"/>
          </a:xfrm>
          <a:prstGeom prst="line">
            <a:avLst/>
          </a:prstGeom>
          <a:noFill/>
          <a:ln w="34925">
            <a:solidFill>
              <a:srgbClr val="2E86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45936" y="1691640"/>
            <a:ext cx="2615184" cy="2834640"/>
          </a:xfrm>
          <a:prstGeom prst="roundRect">
            <a:avLst>
              <a:gd name="adj" fmla="val 3497"/>
            </a:avLst>
          </a:prstGeom>
          <a:solidFill>
            <a:srgbClr val="F4F7FA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70064" y="1965960"/>
            <a:ext cx="566928" cy="566928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9522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83096" y="26517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assignment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28816" y="33375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hướng θ theo histogram gradient — chìa khoá để bất biến xoay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3108960"/>
            <a:ext cx="283464" cy="0"/>
          </a:xfrm>
          <a:prstGeom prst="line">
            <a:avLst/>
          </a:prstGeom>
          <a:noFill/>
          <a:ln w="34925">
            <a:solidFill>
              <a:srgbClr val="2E86D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90304" y="1691640"/>
            <a:ext cx="2615184" cy="2834640"/>
          </a:xfrm>
          <a:prstGeom prst="roundRect">
            <a:avLst>
              <a:gd name="adj" fmla="val 3497"/>
            </a:avLst>
          </a:prstGeom>
          <a:solidFill>
            <a:srgbClr val="F4F7FA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14432" y="1965960"/>
            <a:ext cx="566928" cy="566928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14432" y="19522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27464" y="26517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 128-D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473184" y="33375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4×4 ô × 8 hướng gradient quanh keypoint → vector chuẩn hoá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20240" y="5166360"/>
            <a:ext cx="8321040" cy="777240"/>
          </a:xfrm>
          <a:prstGeom prst="roundRect">
            <a:avLst>
              <a:gd name="adj" fmla="val 10588"/>
            </a:avLst>
          </a:prstGeom>
          <a:solidFill>
            <a:srgbClr val="EAF2FB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5166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 cốt lõi:  </a:t>
            </a:r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mọi thứ trong « hệ toạ độ riêng » của keypoint — theo scale và hướng θ — nên ảnh xoay / phóng to bao nhiêu, descriptor vẫn giống nhau.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BƯỚC 1/4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Scale-space: tìm điểm đặc trưng ở mọi độ phóng đại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mờ ảnh bằng Gaussian với chuỗi hệ số σ tăng dần theo tỉ số k = √2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Trừ hai mức mờ liên tiếp → ảnh DoG (Difference of Gaussians)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mỗi pixel với 26 láng giềng (8 cùng mức + 9×2 mức σ kề trên dưới)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cực đại / cực tiểu cục bộ ⇒ ứng viên keypoint ở scale σ đó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800600"/>
            <a:ext cx="379476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91947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D(x, σ) = L(x, kσ) − L(x, σ)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 ≈ xấp xỉ LoG (Laplacian of Gaussian): responsive với blob mà tính nhanh hơn nhiều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98264" y="1426464"/>
            <a:ext cx="7434072" cy="3479220"/>
          </a:xfrm>
          <a:prstGeom prst="roundRect">
            <a:avLst>
              <a:gd name="adj" fmla="val 2365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8" name="Image 0" descr="assets/02_gaussian_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554480"/>
            <a:ext cx="7178040" cy="32231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26280" y="4997124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Trên: ảnh làm mờ dần theo σ · Dưới: hiệu DoG tương ứng (đỏ = sáng hơn, xanh = tối hơn) — vùng sáng/tối nổi bật chính là « blob 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BƯỚC 1/4 (TIẾP)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pyramid: cùng một phép biến đổi, lặp lại ở mọi kích thước ảnh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0140" y="1197864"/>
            <a:ext cx="9948672" cy="3945655"/>
          </a:xfrm>
          <a:prstGeom prst="roundRect">
            <a:avLst>
              <a:gd name="adj" fmla="val 2086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5" name="Image 0" descr="assets/03_octa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325880"/>
            <a:ext cx="9692640" cy="36896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74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Octave = « tầng » của pyramid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545896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được thu nhỏ ½ mỗi octave; σ khởi đầu cũng nhân đôi, để DoG không lặp lại vô ích.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70832" y="5074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octave ⇒ nhiều scale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370832" y="545896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nhỏ chỉ nổi bật ở octave gốc; vật thể lớn chỉ nổi bật ở octave đã thu nhỏ.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84464" y="5074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 mạnh = ổn định nhiều scale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84464" y="545896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là cực trị qua nhiều mức σ thường chịu được biến đổi hình học tốt hơn.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nghiệm trong paper: 4 octave × 5 mức σ cho ảnh thường là đủ (OpenCV dùng mặc định 4–5 octave)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BƯỚC 2/4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 localization: giữ điểm ổn định, loại nhiễu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 chỉnh vị trí tới độ chính xác dưới-pixel bằng khai triển Taylor bậc 2 của DoG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điểm tương phản thấp:  |D| &lt; 0.03 ⇒ dễ là nhiễu, tìm lại không được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điểm trên cạnh: cạnh có nhiều cực trị « giả » kéo dài theo đường thẳng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Hessian 2×2 của DoG: nếu tỉ số eigenvalue lớn hơn 10 ⇒ nghiêng về cạnh, loại bỏ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983480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EAF2FB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1389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trên ảnh mẫu: 168 keypoints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sống sót qua 2 bộ lọc — mỗi điểm mang (x, y, σ) riêng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81144" y="1289304"/>
            <a:ext cx="7205472" cy="4465263"/>
          </a:xfrm>
          <a:prstGeom prst="roundRect">
            <a:avLst>
              <a:gd name="adj" fmla="val 1843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8" name="Image 0" descr="assets/04_sift_key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417320"/>
            <a:ext cx="6949440" cy="42092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5827719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tròn = kích thước σ của keypoint · vạch ngang = hướng θ (gán ở bước 3)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BƯỚC 3/4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assignment: gán « la bàn » cho từng keypoint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gradient của mọi pixel trong lân cận keypoint (cửa sổ Gauss, σ = 1.5·σ_kp)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 độ lớn gradient vào histogram 36 bins (mỗi bin 10°), trọng số theo khoảng cách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cao nhất ⇒ hướng chủ đạo θ được gán cho keypoint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≥ 80% cột cao nhất ⇒ thêm keypoint thứ hai cùng vị trí, khác 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3611880" cy="1143000"/>
          </a:xfrm>
          <a:prstGeom prst="roundRect">
            <a:avLst>
              <a:gd name="adj" fmla="val 7200"/>
            </a:avLst>
          </a:prstGeom>
          <a:solidFill>
            <a:srgbClr val="EAF2FB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atan2(L(x, y+1) − L(x, y−1),  L(x+1, y) − L(x−1, y))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 toàn bộ hệ đo về θ = 0° trước khi tính descriptor (bước 4) ⇒ bất biến xoay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87952" y="1472184"/>
            <a:ext cx="7662672" cy="3917248"/>
          </a:xfrm>
          <a:prstGeom prst="roundRect">
            <a:avLst>
              <a:gd name="adj" fmla="val 2101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8" name="Image 0" descr="assets/05_ori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600200"/>
            <a:ext cx="7406640" cy="3661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15968" y="546258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Trái: hướng gradient thật từng pixel quanh một keypoint · Phải: histogram 36 bins với cột peak được đánh dấu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BƯỚC 4/4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Descriptor: « vân tay » 128 chiều của keypoint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89304"/>
            <a:ext cx="4373667" cy="4736592"/>
          </a:xfrm>
          <a:prstGeom prst="roundRect">
            <a:avLst>
              <a:gd name="adj" fmla="val 1882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5" name="Image 0" descr="assets/06_descriptor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4117635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062472"/>
            <a:ext cx="4117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4×4 vẽ trên patch thật — mỗi ô là một histogram 8 hướng (tính từ gradient thật)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52075" y="1481328"/>
            <a:ext cx="637967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cửa sổ 16×16 pixel quanh keypoint — đã xoay về θ = 0°, scales theo σ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thành lưới 4×4 ô, mỗi ô dựng histogram 8 hướng gradient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Nối 16 ô × 8 số = 128 chiều ⇒ một vector duy nhất cho mỗi keypoint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hoá đơn vị độ dài + kẹp giá trị ≤ 0.2 rồi chuẩn hoá lại ⇒ bất biến sáng / tương phản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52075" y="4160520"/>
            <a:ext cx="6379677" cy="137160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6395" y="4315968"/>
            <a:ext cx="58310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4 × 8  =  128-D</a:t>
            </a:r>
            <a:endParaRPr lang="en-US" sz="30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float — « dấu vân tay » so sánh được bằng khoảng cách Euclidean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352075" y="5760720"/>
            <a:ext cx="63796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patch trông giống nhau ⇒ hai vector 128-D gần nhau, dù ảnh đã xoay / thu phóng / đổi sáng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· KẾT QUẢ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Matching: ghép điểm giữa hai ảnh đã bị biến đổi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 ratio test:  </a:t>
            </a:r>
            <a:pPr indent="0" marL="0">
              <a:buNone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giữ match nếu khoảng cách gần nhất &lt; 0.75 × khoảng cách gần nhì — loại bỏ các cặp « mơ hồ 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440180" y="1499616"/>
            <a:ext cx="9308592" cy="4370832"/>
          </a:xfrm>
          <a:prstGeom prst="roundRect">
            <a:avLst>
              <a:gd name="adj" fmla="val 1883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6" name="Image 0" descr="assets/07_sift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27632"/>
            <a:ext cx="905256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5779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2011680" y="6236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keypoints ảnh trái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5779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4846320" y="6236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keypoints ảnh phải (biến đổi)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5779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7680960" y="6236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khớp tốt (ratio 0.75)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 /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" y="13716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Oriented FAST and Rotated BRIEF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40156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Rublee, Rabaud, Konolige &amp; Bradski — ICCV 2011 (OpenCV Labs). Ghép FAST + BRIEF, thêm scale &amp; orientation: nhanh hơn SIFT ~1–2 bậc độ lớn, miễn phí hoàn toàn.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617720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4526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+ pyramid + Harris  —  </a:t>
            </a:r>
            <a:pPr indent="0" marL="0">
              <a:buNone/>
            </a:pPr>
            <a:r>
              <a:rPr lang="en-US" sz="150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— tìm keypoint nhanh, có scale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184648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50932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centroid  —  </a:t>
            </a:r>
            <a:pPr indent="0" marL="0">
              <a:buNone/>
            </a:pPr>
            <a:r>
              <a:rPr lang="en-US" sz="150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hướng θ cho keypoint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751576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6601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rBRIEF (steered)  —  </a:t>
            </a:r>
            <a:pPr indent="0" marL="0">
              <a:buNone/>
            </a:pPr>
            <a:r>
              <a:rPr lang="en-US" sz="150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 256-bit bất biến xoay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32904" y="1792224"/>
            <a:ext cx="4416552" cy="3764059"/>
          </a:xfrm>
          <a:prstGeom prst="roundRect">
            <a:avLst>
              <a:gd name="adj" fmla="val 2186"/>
            </a:avLst>
          </a:prstGeom>
          <a:solidFill>
            <a:srgbClr val="1C3E63"/>
          </a:solidFill>
          <a:ln w="12700">
            <a:solidFill>
              <a:srgbClr val="2A4E77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13" name="Image 0" descr="assets/12_orb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920240"/>
            <a:ext cx="4160520" cy="350802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60920" y="565686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match cùng cặp ảnh như SIFT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· TỔNG QUAN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 của ORB: FAST (detect) + rBRIEF (describe)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5875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level của pyramid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7752" y="2377440"/>
            <a:ext cx="237744" cy="0"/>
          </a:xfrm>
          <a:prstGeom prst="line">
            <a:avLst/>
          </a:prstGeom>
          <a:noFill/>
          <a:ln w="34925">
            <a:solidFill>
              <a:srgbClr val="E67E2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52928" y="16002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DF0E3"/>
          </a:solidFill>
          <a:ln w="15875">
            <a:solidFill>
              <a:srgbClr val="F0C9A4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4368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oFAST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90088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+ pyramid + Harris ranking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2377440"/>
            <a:ext cx="237744" cy="0"/>
          </a:xfrm>
          <a:prstGeom prst="line">
            <a:avLst/>
          </a:prstGeom>
          <a:noFill/>
          <a:ln w="34925">
            <a:solidFill>
              <a:srgbClr val="E67E2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48656" y="16002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DF0E3"/>
          </a:solidFill>
          <a:ln w="15875">
            <a:solidFill>
              <a:srgbClr val="F0C9A4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0096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centroid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85816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từng keypoint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79208" y="2377440"/>
            <a:ext cx="237744" cy="0"/>
          </a:xfrm>
          <a:prstGeom prst="line">
            <a:avLst/>
          </a:prstGeom>
          <a:noFill/>
          <a:ln w="34925">
            <a:solidFill>
              <a:srgbClr val="E67E2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44384" y="16002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DF0E3"/>
          </a:solidFill>
          <a:ln w="15875">
            <a:solidFill>
              <a:srgbClr val="F0C9A4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35824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rBRIEF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81544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256-bit descriptor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74936" y="2377440"/>
            <a:ext cx="237744" cy="0"/>
          </a:xfrm>
          <a:prstGeom prst="line">
            <a:avLst/>
          </a:prstGeom>
          <a:noFill/>
          <a:ln w="34925">
            <a:solidFill>
              <a:srgbClr val="E67E2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40112" y="16002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5875">
            <a:solidFill>
              <a:srgbClr val="D8E3F0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31552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177272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khớp Hamming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ORB?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" y="4325112"/>
            <a:ext cx="33101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có patent (đến 2020) và chậm — robot / drone / điện thoại cần feature real-time, miễn phí.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70832" y="370332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chính xác lấy tốc độ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325112"/>
            <a:ext cx="33101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 binary « thô » hơn float của SIFT nhưng đủ tốt — và nhanh hơn ~1–2 bậc độ lớn.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84464" y="370332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Trở thành chuẩn thực tế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85632" y="4325112"/>
            <a:ext cx="33101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của ORB-SLAM, cookie của nhiều pipeline AR / mobile / edge device.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· BƯỚC 1/4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phát hiện corner bằng phép so sánh sáng tối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53896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35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Xét 16 pixel trên vòng tròn bán kính 3 quanh điểm ứng viên p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947672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nếu ≥ 12/16 điểm liên tiếp đều sáng hơn p + t  hoặc  tối hơn p − t (ngưỡng t)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441448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2257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nhanh — chỉ phép so sánh số nguyên, không phải tính đạo hàm như DoG / Harris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760220" y="2688336"/>
            <a:ext cx="8668512" cy="3672961"/>
          </a:xfrm>
          <a:prstGeom prst="roundRect">
            <a:avLst>
              <a:gd name="adj" fmla="val 2241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11" name="Image 0" descr="assets/08_f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2816352"/>
            <a:ext cx="8412480" cy="341692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0" y="6379585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Trái: cơ chế vòng 16 điểm (cung xanh = chuỗi điểm sáng liên tiếp) · Phải: FAST chạy thật — chỉ corners, chưa có scale &amp; orientation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· BƯỚC 2/4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 + Harris: bổ sung scale và chọn điểm mạnh nhất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FAST trên từng level của image pyramid (mỗi level thu nhỏ ½) ⇒ có bất biến scale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2002536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8366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Harris response cho mọi FAST keypoint, xếp hạng và giữ top-N điểm « góc » rõ nhất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957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N = 500 keypoints, phân bố đều về đều theo x (giảm cụm dồn vào một vùng)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17220" y="2834640"/>
            <a:ext cx="10954512" cy="3425013"/>
          </a:xfrm>
          <a:prstGeom prst="roundRect">
            <a:avLst>
              <a:gd name="adj" fmla="val 2403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11" name="Image 0" descr="assets/09_orb_pyra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962656"/>
            <a:ext cx="10698480" cy="31689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296229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chạy thật trên 4 level của pyramid — số keypoint ở mỗi level chênh nhau theo chi tiết ảnh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· BƯỚC 3/4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centroid: xác định hướng θ bằng « tâm khối sáng 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 cường độ sáng của pixel như « khối lượng »: vùng sáng ⇒ tâm khối lệch về phía đó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moment trên patch quanh keypoint:  m₁₀ = Σ x·I(x,y),   m₀₁ = Σ y·I(x,y)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từ tâm patch tới centroid chỉ hướng θ của keypoint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Nhanh hơn histogram 36 bins của SIFT, vẫn ổn định ở góc xoay lớn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FDF0E3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91947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atan2(m₀₁, m₁₀)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2 phép moment + 1 atan2 cho mỗi keypoint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06824" y="1517904"/>
            <a:ext cx="7479792" cy="3424348"/>
          </a:xfrm>
          <a:prstGeom prst="roundRect">
            <a:avLst>
              <a:gd name="adj" fmla="val 2403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8" name="Image 0" descr="assets/10_centr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645920"/>
            <a:ext cx="7223760" cy="31683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34840" y="50154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Trái: patch thật — tâm patch (+), centroid sáng hơn (○) và hướng θ · Phải: patch xoay chuẩn hoá về θ = 0° trước khi trích rBRIEF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· BƯỚC 4/4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rBRIEF: descriptor 256-bit bất biến xoay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gốc: chọn 256 cặp pixel ngẫu nhiên trong patch 31×31, so sáng tối ra 256 bit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rBRIEF « steered »: xoay toạ độ các cặp theo θ của keypoint trước khi so sánh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bộ cặp tối ưu bằng thuật toán greedy (giảm tương quan giữa các bit, tăng khả năng phân biệt)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khớp 2 chuỗi bit = Hamming distance: XOR rồi đếm bit 1 — phần cứng làm trong 1 lệnh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502920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5166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bit = 32 byte</a:t>
            </a:r>
            <a:endParaRPr lang="en-US" sz="24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128 số thực = 512 byte của SIFT (nhỏ hơn 16 lần)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901184" y="1335024"/>
            <a:ext cx="6793992" cy="3890251"/>
          </a:xfrm>
          <a:prstGeom prst="roundRect">
            <a:avLst>
              <a:gd name="adj" fmla="val 2115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8" name="Image 0" descr="assets/11_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63040"/>
            <a:ext cx="6537960" cy="3634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5298427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Trái: pattern ngẫu nhiên của BRIEF · Phải: pattern xoay theo θ (rBRIEF steered) — mỗi đoạn thẳng là một cặp pixel cần so sánh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· KẾT QUẢ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trên cùng cặp ảnh: nhanh và vẫn khớp tốt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243584"/>
            <a:ext cx="5732648" cy="4873752"/>
          </a:xfrm>
          <a:prstGeom prst="roundRect">
            <a:avLst>
              <a:gd name="adj" fmla="val 1689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5" name="Image 0" descr="assets/12_orb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5476616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172200"/>
            <a:ext cx="5476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Trên: keypoints ORB · Dưới: 80 matches tốt nhất (Hamming + ratio test 0.8)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02496" y="1481328"/>
            <a:ext cx="4929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653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802496" y="2048256"/>
            <a:ext cx="492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keypoints (nfeatures = 800)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02496" y="2505456"/>
            <a:ext cx="4929256" cy="0"/>
          </a:xfrm>
          <a:prstGeom prst="line">
            <a:avLst/>
          </a:prstGeom>
          <a:noFill/>
          <a:ln w="12700">
            <a:solidFill>
              <a:srgbClr val="E3EA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02496" y="2670048"/>
            <a:ext cx="4929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802496" y="3236976"/>
            <a:ext cx="492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khớp tốt trên ảnh biến đổi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02496" y="3694176"/>
            <a:ext cx="4929256" cy="0"/>
          </a:xfrm>
          <a:prstGeom prst="line">
            <a:avLst/>
          </a:prstGeom>
          <a:noFill/>
          <a:ln w="12700">
            <a:solidFill>
              <a:srgbClr val="E3EA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02496" y="3858768"/>
            <a:ext cx="4929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ms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802496" y="4425696"/>
            <a:ext cx="492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+ describe / ảnh (SIFT: 85.3 ms)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02496" y="5120640"/>
            <a:ext cx="4929256" cy="960120"/>
          </a:xfrm>
          <a:prstGeom prst="roundRect">
            <a:avLst>
              <a:gd name="adj" fmla="val 8571"/>
            </a:avLst>
          </a:prstGeom>
          <a:solidFill>
            <a:srgbClr val="FDF0E3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03664" y="5120640"/>
            <a:ext cx="4526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9× nhanh hơn SIFT trên cùng máy — đủ chuẩn để chạy 30–60 fps trên CPU thường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vs ORB — cùng mục tiêu, hai triết lý khác nhau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6035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286000"/>
                <a:gridCol w="23317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F0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 đời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Lowe, 1999 / 2004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Rublee et al., ICCV 2011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Cực trị DoG trên scale-space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+ pyramid + Harris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Orientation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Histogram 36 bins gradient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Intensity centroid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128-D float (512 byte)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256-bit binary (32 byte)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 khớp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Euclidean (float)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Hamming (XOR — rất nhanh)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Bất biến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Xoay · scale · sáng · affine nhẹ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Xoay · scale · sáng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Tốc độ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Chuẩn mực, chậm hơn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Nhanh hơn ~1–2 bậc độ lớn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 patent — hết hạn 2020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Miễn phí (BSD)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Dùng khi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Cần chính xác tối đa, ảnh biến đổi mạnh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2B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Real-time: SLAM, drone, AR, mobile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56832" y="1353312"/>
            <a:ext cx="5148072" cy="2380235"/>
          </a:xfrm>
          <a:prstGeom prst="roundRect">
            <a:avLst>
              <a:gd name="adj" fmla="val 3457"/>
            </a:avLst>
          </a:prstGeom>
          <a:solidFill>
            <a:srgbClr val="F4F7FA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pic>
        <p:nvPicPr>
          <p:cNvPr id="6" name="Image 0" descr="assets/13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481328"/>
            <a:ext cx="4892040" cy="21242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84848" y="3788411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thật: detect + describe trên ảnh 1000×563, trung bình 30 lần chạy (OpenCV 5.0, CPU của máy này)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784848" y="4572000"/>
            <a:ext cx="4892040" cy="1280160"/>
          </a:xfrm>
          <a:prstGeom prst="roundRect">
            <a:avLst>
              <a:gd name="adj" fmla="val 6429"/>
            </a:avLst>
          </a:prstGeom>
          <a:solidFill>
            <a:srgbClr val="EAF2FB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04304" y="473659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9.1× nhanh hơn · 16× nhẹ hơn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~80 matches tốt — đo trực tiếp trên máy này, cùng cặp ảnh mẫu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matching chạy đâu trong đời thực?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E86DE"/>
          </a:solidFill>
          <a:ln/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36192" y="13807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/ image stitching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36192" y="17830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nhiều ảnh chụp liaison thành một tấm rộng — phone camera làm việc này mỗi lần bạn chụp panorama.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7648" y="141732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E67E22"/>
          </a:solidFill>
          <a:ln/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27648" y="14173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3807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&amp; robot tự hành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06640" y="17830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vị + dựng bản đồ real-time. ORB-SLAM là nền tảng của nhiều robot, drone, xe tự lái.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449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36192" y="30083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tế tăng cường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36192" y="34107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vật thể 3D lên bề mặt thật: tìm keypoints của marker / cảnh, tính ma trận chuyển đổi, đặt vật thể lên.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7648" y="3044952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2E86DE"/>
          </a:solidFill>
          <a:ln/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7648" y="30449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30083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reconstruction (SfM)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06640" y="34107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nhiều ảnh chụp cùng vật thể ở góc khác nhau, khôi phục hình học 3D nhờ các cặp điểm tương ứng.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67258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E67E22"/>
          </a:solidFill>
          <a:ln/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6725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36192" y="46360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recognition &amp; retrieval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36192" y="5038344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keypoints + descriptors làm « chữ ký » vật thể / ảnh để tìm trong kho dữ liệu lớn.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27648" y="4672584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27648" y="46725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46360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vật thể trong video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406640" y="5038344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vật thể qua từng frame — thể thao, an ninh, phân tích chuyển động.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hai con đường, một mục tiêu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EAF2FB"/>
          </a:solidFill>
          <a:ln w="19050">
            <a:solidFill>
              <a:srgbClr val="1B5FA8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— chính xác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 scale-space → keypoint có (x, y, σ, θ)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 128-D float, bất biến xoay / scale / sáng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mực so sánh trong nghiên cứu nhiều năm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Chậm hơn — hợp ảnh khó, offline, cần độ chính xác cao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532120" cy="3383280"/>
          </a:xfrm>
          <a:prstGeom prst="roundRect">
            <a:avLst>
              <a:gd name="adj" fmla="val 2703"/>
            </a:avLst>
          </a:prstGeom>
          <a:solidFill>
            <a:srgbClr val="FDF0E3"/>
          </a:solidFill>
          <a:ln w="19050">
            <a:solidFill>
              <a:srgbClr val="C05F0A"/>
            </a:solidFill>
            <a:prstDash val="solid"/>
          </a:ln>
          <a:effectLst>
            <a:outerShdw sx="100000" sy="100000" kx="0" ky="0" algn="bl" rotWithShape="0" blurRad="88900" dist="25400" dir="5400000">
              <a:srgbClr val="0F2B4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— nhanh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19672" y="2212848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+ pyramid + Harris → keypoint nhanh, có scale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bằng intensity centroid; rBRIEF 256-bit steered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Hamming matching cực nhanh, descriptor nhẹ 16×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khi cần real-time: SLAM, drone, AR, mobile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507492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0F2B4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0749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chọn nhanh:  </a:t>
            </a:r>
            <a:pPr indent="0" marL="0">
              <a:buNone/>
            </a:pPr>
            <a:r>
              <a:rPr lang="en-US" sz="14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biến đổi mạnh &amp; cần chính xác tối đa → SIFT · cần tốc độ / thiết bị yếu / real-time → ORB. Trong OpenCV: </a:t>
            </a:r>
            <a:pPr indent="0" marL="0">
              <a:buNone/>
            </a:pPr>
            <a:r>
              <a:rPr lang="en-US" sz="1400" b="1" dirty="0">
                <a:solidFill>
                  <a:srgbClr val="7E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cv2.SIFT_create()</a:t>
            </a:r>
            <a:pPr indent="0" marL="0">
              <a:buNone/>
            </a:pPr>
            <a:r>
              <a:rPr lang="en-US" sz="14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5B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cv2.ORB_create()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THEO DÕI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&amp;  </a:t>
            </a:r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chạm tới « đôi mắt » của máy tính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395728"/>
            <a:ext cx="5029200" cy="0"/>
          </a:xfrm>
          <a:prstGeom prst="line">
            <a:avLst/>
          </a:prstGeom>
          <a:noFill/>
          <a:ln w="19050">
            <a:solidFill>
              <a:srgbClr val="1C3E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G. Lowe (2004). Distinctive Image Features from Scale-Invariant Keypoints. IJCV 60(2), 91–110.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Rublee, V. Rabaud, K. Konolige, G. Bradski (2011). ORB: An Efficient Alternative to SIFT or SURF. ICCV 2011.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Rosten, T. Drummond (2006). Machine Learning for High-Speed Corner Detection. ECCV 2006.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Calonder, V. Lepetit, et al. (2010). BRIEF: Binary Robust Independent Elementary Features. ECCV 2010.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301752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1C3E63"/>
          </a:solidFill>
          <a:ln w="12700">
            <a:solidFill>
              <a:srgbClr val="2A4E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32004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hình ảnh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F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hình minh họa được chạy thật bằng OpenCV 5.0 (cv2.SIFT_create / ORB_create / FastFeatureDetector) trên ảnh nền Ubuntu; script sinh ảnh kèm theo dự án để tái tạo.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&amp; ORB — Computer 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SIFT &amp; ORB trong Computer Vision</dc:title>
  <dc:subject>PptxGenJS Presentation</dc:subject>
  <dc:creator>ZCode</dc:creator>
  <cp:lastModifiedBy>ZCode</cp:lastModifiedBy>
  <cp:revision>1</cp:revision>
  <dcterms:created xsi:type="dcterms:W3CDTF">2026-10-25T22:56:38Z</dcterms:created>
  <dcterms:modified xsi:type="dcterms:W3CDTF">2026-10-25T22:56:38Z</dcterms:modified>
</cp:coreProperties>
</file>